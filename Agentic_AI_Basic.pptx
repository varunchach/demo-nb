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7" r:id="rId11"/>
    <p:sldId id="268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77"/>
    <p:restoredTop sz="94635"/>
  </p:normalViewPr>
  <p:slideViewPr>
    <p:cSldViewPr snapToGrid="0">
      <p:cViewPr varScale="1">
        <p:scale>
          <a:sx n="103" d="100"/>
          <a:sy n="103" d="100"/>
        </p:scale>
        <p:origin x="200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42539-5B57-47B4-9C9F-45E1B9A4E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69ADF-EBF9-BCF9-1F44-045F97B01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6C305-FED0-8FEC-B593-FEADB1B8B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5270-CDC0-C04A-8618-40E8429E94CE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B647B-2017-7A57-2311-8EEEA36FE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D54E5-E2AD-39DF-1669-E574126D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1459-3359-AE48-8EE4-0FECCCF44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06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417-555B-7A9F-F8A8-D67D20E8F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932C-E26A-8521-F8F0-434C84027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D2CF9-5568-C6C8-4354-DE977C3DE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5270-CDC0-C04A-8618-40E8429E94CE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2A496-8F4E-705F-71C3-7CE35E26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A38B5-0365-B93D-8ACC-337270D8A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1459-3359-AE48-8EE4-0FECCCF44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63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48430-6D49-3526-F3D1-CBB0AB1C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6AF37-3BF2-0923-729C-7B485640E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9F952-F34C-09B1-3AA1-8964B814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5270-CDC0-C04A-8618-40E8429E94CE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5F53F-A509-753C-7E10-9C3B0F25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5586E-0B25-1F71-65A5-86EDEC61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1459-3359-AE48-8EE4-0FECCCF44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0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2C01-60B5-F194-D4EE-2CB5B10C6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012B4-E06D-C927-D4F0-1FE67E8E66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548F9-6C2D-D64F-657D-D64A2B78B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2FE72-4509-AE92-E8CA-379CAA2B1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5270-CDC0-C04A-8618-40E8429E94CE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0362A-96EA-C643-F878-01B5C938C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83758-FD86-E3F7-B861-A77C1A08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1459-3359-AE48-8EE4-0FECCCF44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4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27A85-B415-FB52-6C19-C121765B6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8D069-43EA-6979-3317-B013CADCD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9CA1D-CEB3-FFA4-3D1F-CB711475B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6B3ED6-4955-457F-2E38-50A9C9E60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D1416-1241-4DBB-A11D-627C8BC56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220D92-4B29-E7C4-77D0-C5C127D2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5270-CDC0-C04A-8618-40E8429E94CE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AA850A-E586-4504-00DE-298190B0D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50F34E-61D6-9694-3F4D-B3BB2F71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1459-3359-AE48-8EE4-0FECCCF44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3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A76B2-DD47-E8FE-5B55-E016761D4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9D7CFA-B32E-DE63-6E48-61F4F0D7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5270-CDC0-C04A-8618-40E8429E94CE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5ECAF4-F429-2D9B-196E-785ABAD26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AAB6D-8E80-E7BE-8CA8-9CE9FC9BD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1459-3359-AE48-8EE4-0FECCCF44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38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32D52F-57E7-794E-ADBD-5053A8F3E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5270-CDC0-C04A-8618-40E8429E94CE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07014-A78C-F2FA-3F71-E7FBF3B35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7CD82-8D1F-D79E-C72E-85AEA76D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1459-3359-AE48-8EE4-0FECCCF44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651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88CD1-A045-FFD8-9D7C-8CAE6CE77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27FE4-029E-93A5-A99C-F400533C9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AE5C3E-59C7-3D6C-868A-811E1E7B5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6CCA5-EC3E-4998-6F69-72F90EB2E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5270-CDC0-C04A-8618-40E8429E94CE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B5697-EA46-CF09-669D-384EBB323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2815A-8907-E18D-F794-5B2BA4A4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1459-3359-AE48-8EE4-0FECCCF44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0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A947A-538D-A509-5A07-FFEF917DB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F00DD1-88C1-8CB2-0BA0-8792D3FBDB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25668-6DB1-2CEA-DDB6-4D8EACDA5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8525C-6AE6-C345-78A7-E73E78DA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5270-CDC0-C04A-8618-40E8429E94CE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03F3F-B0DD-D180-0A1C-90EBC793A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7ADC9-206E-B8DD-8550-C95FAB3A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1459-3359-AE48-8EE4-0FECCCF44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29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59A80-CD6C-1163-8066-9301DA273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DED8D-35D3-23E6-9E2D-D956EE709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79A46-1C67-5524-0472-5D281D8C1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5270-CDC0-C04A-8618-40E8429E94CE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CABAE-AC89-AD7E-35A6-E8B8D910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96000-D541-19E3-86EA-8CBD498E5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1459-3359-AE48-8EE4-0FECCCF44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76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4780E4-14D6-2760-D1E2-383909CEE2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8D367-22BE-BC53-8D76-7B4587D58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15F54-0EDD-54B9-6ACC-FE3630A5F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5270-CDC0-C04A-8618-40E8429E94CE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E22AA-CC6F-2055-8C49-07AEE81B1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8F2B8-D7C7-7DCE-DF9E-9650ECF7A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41459-3359-AE48-8EE4-0FECCCF44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207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EF227A-19C3-79D8-5A07-E1C56C5D0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A6075-A531-62DB-0C3C-F1A7FB85C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51EEA-852F-509F-CA13-A3209F6DB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35270-CDC0-C04A-8618-40E8429E94CE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F3A92-2D21-76BB-9E91-9F6DBA00A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B8D91-41F0-E4BA-270B-B0DC93FD5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41459-3359-AE48-8EE4-0FECCCF44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72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7CF24-FC79-8C9C-9995-69FB0E9C49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Agentic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BD51C4-45CF-C6A5-F8B4-3ABD2F0C2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7070" y="3824460"/>
            <a:ext cx="9144000" cy="1655762"/>
          </a:xfrm>
        </p:spPr>
        <p:txBody>
          <a:bodyPr/>
          <a:lstStyle/>
          <a:p>
            <a:r>
              <a:rPr lang="en-US" dirty="0"/>
              <a:t>-Varun Raste</a:t>
            </a:r>
          </a:p>
        </p:txBody>
      </p:sp>
    </p:spTree>
    <p:extLst>
      <p:ext uri="{BB962C8B-B14F-4D97-AF65-F5344CB8AC3E}">
        <p14:creationId xmlns:p14="http://schemas.microsoft.com/office/powerpoint/2010/main" val="1165398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9C9A4-BA15-F1A7-4FE2-60532FBE7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an AI Agent?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D804C-4B9E-817F-CDA7-37533E798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Uses an LLM as the reasoning engine. </a:t>
            </a:r>
          </a:p>
          <a:p>
            <a:endParaRPr lang="en-IN" dirty="0"/>
          </a:p>
          <a:p>
            <a:r>
              <a:rPr lang="en-IN" dirty="0"/>
              <a:t>Interacts with external tools and APIs. </a:t>
            </a:r>
          </a:p>
          <a:p>
            <a:endParaRPr lang="en-IN" dirty="0"/>
          </a:p>
          <a:p>
            <a:r>
              <a:rPr lang="en-IN" dirty="0"/>
              <a:t>Maintains context using memory. </a:t>
            </a:r>
          </a:p>
          <a:p>
            <a:endParaRPr lang="en-IN" dirty="0"/>
          </a:p>
          <a:p>
            <a:r>
              <a:rPr lang="en-IN" dirty="0"/>
              <a:t>Can make decisions without predefined workflows. </a:t>
            </a:r>
          </a:p>
          <a:p>
            <a:endParaRPr lang="en-IN" dirty="0"/>
          </a:p>
          <a:p>
            <a:r>
              <a:rPr lang="en-IN" dirty="0"/>
              <a:t>Iteratively improves until the objective is achieved.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675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45729-1E5E-AB4E-00BD-F59C48850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Characteristics of an AI Agent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7DDF0-3959-8F24-765E-8D9F7C9D5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Autonomy:</a:t>
            </a:r>
            <a:r>
              <a:rPr lang="en-IN" dirty="0"/>
              <a:t> Executes tasks with minimal human intervention.</a:t>
            </a:r>
          </a:p>
          <a:p>
            <a:endParaRPr lang="en-IN" dirty="0"/>
          </a:p>
          <a:p>
            <a:r>
              <a:rPr lang="en-IN" dirty="0"/>
              <a:t> </a:t>
            </a:r>
            <a:r>
              <a:rPr lang="en-IN" b="1" dirty="0"/>
              <a:t>Reasoning:</a:t>
            </a:r>
            <a:r>
              <a:rPr lang="en-IN" dirty="0"/>
              <a:t> Breaks complex problems into smaller steps. </a:t>
            </a:r>
          </a:p>
          <a:p>
            <a:endParaRPr lang="en-IN" b="1" dirty="0"/>
          </a:p>
          <a:p>
            <a:r>
              <a:rPr lang="en-IN" b="1" dirty="0"/>
              <a:t>Tool Usage:</a:t>
            </a:r>
            <a:r>
              <a:rPr lang="en-IN" dirty="0"/>
              <a:t> Calls APIs, databases, or external software. </a:t>
            </a:r>
          </a:p>
          <a:p>
            <a:endParaRPr lang="en-IN" b="1" dirty="0"/>
          </a:p>
          <a:p>
            <a:r>
              <a:rPr lang="en-IN" b="1" dirty="0"/>
              <a:t>Memory:</a:t>
            </a:r>
            <a:r>
              <a:rPr lang="en-IN" dirty="0"/>
              <a:t> Remembers previous interactions and state. </a:t>
            </a:r>
          </a:p>
          <a:p>
            <a:endParaRPr lang="en-IN" b="1" dirty="0"/>
          </a:p>
          <a:p>
            <a:r>
              <a:rPr lang="en-IN" b="1" dirty="0"/>
              <a:t>Goal-Oriented:</a:t>
            </a:r>
            <a:r>
              <a:rPr lang="en-IN" dirty="0"/>
              <a:t> Plans actions to maximize task success.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60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059A3-8AF4-82D5-2439-68DCFE840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Agentic 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6121A-7779-41E6-C27E-B2B6F3CDA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Extends beyond simple prompt-response interactions. </a:t>
            </a:r>
          </a:p>
          <a:p>
            <a:endParaRPr lang="en-IN" dirty="0"/>
          </a:p>
          <a:p>
            <a:r>
              <a:rPr lang="en-IN" dirty="0"/>
              <a:t>Dynamically selects the next best action. </a:t>
            </a:r>
          </a:p>
          <a:p>
            <a:endParaRPr lang="en-IN" dirty="0"/>
          </a:p>
          <a:p>
            <a:r>
              <a:rPr lang="en-IN" dirty="0"/>
              <a:t>Can recover from failures and retry tasks. </a:t>
            </a:r>
          </a:p>
          <a:p>
            <a:endParaRPr lang="en-IN" dirty="0"/>
          </a:p>
          <a:p>
            <a:r>
              <a:rPr lang="en-IN" dirty="0"/>
              <a:t>Coordinates multiple tools to solve problems. </a:t>
            </a:r>
          </a:p>
          <a:p>
            <a:endParaRPr lang="en-IN" dirty="0"/>
          </a:p>
          <a:p>
            <a:r>
              <a:rPr lang="en-IN" dirty="0"/>
              <a:t>Suitable for long-running, complex workflows.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498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056740-AB45-5D1E-B04D-11EBED037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303"/>
            <a:ext cx="12192000" cy="676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93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D4CD9-756A-220D-119D-2DA3A51D0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Agentic Design Principles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5BCD9-090E-3614-9815-31953A5F8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Define a clear objective for the agent. </a:t>
            </a:r>
          </a:p>
          <a:p>
            <a:endParaRPr lang="en-IN" dirty="0"/>
          </a:p>
          <a:p>
            <a:r>
              <a:rPr lang="en-IN" dirty="0"/>
              <a:t>Equip the agent with relevant tools. </a:t>
            </a:r>
          </a:p>
          <a:p>
            <a:endParaRPr lang="en-IN" dirty="0"/>
          </a:p>
          <a:p>
            <a:r>
              <a:rPr lang="en-IN" dirty="0"/>
              <a:t>Maintain memory for continuity. </a:t>
            </a:r>
          </a:p>
          <a:p>
            <a:endParaRPr lang="en-IN" dirty="0"/>
          </a:p>
          <a:p>
            <a:r>
              <a:rPr lang="en-IN" dirty="0"/>
              <a:t>Include feedback and evaluation loops. </a:t>
            </a:r>
          </a:p>
          <a:p>
            <a:endParaRPr lang="en-IN" dirty="0"/>
          </a:p>
          <a:p>
            <a:r>
              <a:rPr lang="en-IN" dirty="0"/>
              <a:t>Ensure safety through guardrails and permissions.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898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5C68D-A766-BDCD-3052-81888B1F1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the </a:t>
            </a:r>
            <a:r>
              <a:rPr lang="en-IN" dirty="0" err="1"/>
              <a:t>ReAct</a:t>
            </a:r>
            <a:r>
              <a:rPr lang="en-IN" dirty="0"/>
              <a:t> Pattern?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3A820-9920-B092-C423-BFD8A866C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Alternate between reasoning and action. </a:t>
            </a:r>
          </a:p>
          <a:p>
            <a:endParaRPr lang="en-IN" dirty="0"/>
          </a:p>
          <a:p>
            <a:r>
              <a:rPr lang="en-IN" dirty="0"/>
              <a:t>Use observations to guide the next step. </a:t>
            </a:r>
          </a:p>
          <a:p>
            <a:endParaRPr lang="en-IN" dirty="0"/>
          </a:p>
          <a:p>
            <a:r>
              <a:rPr lang="en-IN" dirty="0"/>
              <a:t>Continue until the goal is achieved. </a:t>
            </a:r>
          </a:p>
          <a:p>
            <a:endParaRPr lang="en-IN" dirty="0"/>
          </a:p>
          <a:p>
            <a:r>
              <a:rPr lang="en-IN" dirty="0"/>
              <a:t>Reduce hallucinations through tool usage.</a:t>
            </a:r>
          </a:p>
          <a:p>
            <a:endParaRPr lang="en-IN" dirty="0"/>
          </a:p>
          <a:p>
            <a:r>
              <a:rPr lang="en-IN" dirty="0"/>
              <a:t>Suitable for search, QA, and troubleshooting.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450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3D4D9-88E8-5674-8FE2-D325659E3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ReAct</a:t>
            </a:r>
            <a:r>
              <a:rPr lang="en-IN" b="1" dirty="0"/>
              <a:t> Workflow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D8E8D-848F-CBB2-5E75-CC709D9E8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Receive user query. </a:t>
            </a:r>
          </a:p>
          <a:p>
            <a:endParaRPr lang="en-IN" dirty="0"/>
          </a:p>
          <a:p>
            <a:r>
              <a:rPr lang="en-IN" dirty="0"/>
              <a:t>Think about the next action. </a:t>
            </a:r>
          </a:p>
          <a:p>
            <a:endParaRPr lang="en-IN" dirty="0"/>
          </a:p>
          <a:p>
            <a:r>
              <a:rPr lang="en-IN" dirty="0"/>
              <a:t>Execute a tool. </a:t>
            </a:r>
          </a:p>
          <a:p>
            <a:endParaRPr lang="en-IN" dirty="0"/>
          </a:p>
          <a:p>
            <a:r>
              <a:rPr lang="en-IN" dirty="0"/>
              <a:t>Observe the result. </a:t>
            </a:r>
          </a:p>
          <a:p>
            <a:endParaRPr lang="en-IN" dirty="0"/>
          </a:p>
          <a:p>
            <a:r>
              <a:rPr lang="en-IN" dirty="0"/>
              <a:t>Repeat until the final answer.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845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33172-D8BF-40A2-6F3D-E01D77725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</a:t>
            </a:r>
            <a:r>
              <a:rPr lang="en-IN" dirty="0" err="1"/>
              <a:t>ReAct</a:t>
            </a:r>
            <a:r>
              <a:rPr lang="en-IN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F6438-77C5-335F-3EA9-7628F3A39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Improves factual accuracy. </a:t>
            </a:r>
          </a:p>
          <a:p>
            <a:endParaRPr lang="en-IN" dirty="0"/>
          </a:p>
          <a:p>
            <a:r>
              <a:rPr lang="en-IN" dirty="0"/>
              <a:t>Enables dynamic decision-making. </a:t>
            </a:r>
          </a:p>
          <a:p>
            <a:endParaRPr lang="en-IN" dirty="0"/>
          </a:p>
          <a:p>
            <a:r>
              <a:rPr lang="en-IN" dirty="0"/>
              <a:t>Handles multi-step problems naturally. </a:t>
            </a:r>
          </a:p>
          <a:p>
            <a:endParaRPr lang="en-IN" dirty="0"/>
          </a:p>
          <a:p>
            <a:r>
              <a:rPr lang="en-IN" dirty="0"/>
              <a:t>Integrates seamlessly with external systems. </a:t>
            </a:r>
          </a:p>
          <a:p>
            <a:endParaRPr lang="en-IN" dirty="0"/>
          </a:p>
          <a:p>
            <a:r>
              <a:rPr lang="en-IN" dirty="0"/>
              <a:t>Provides interpretable reasoning traces.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293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69639-EDDF-296B-30F5-5F8426AD6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9F3541-5234-F32E-DFF1-115DC6673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124" y="222421"/>
            <a:ext cx="10760676" cy="649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172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0D63-FE61-C941-B602-703250B15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FFC76-B988-5EFB-991A-F3D9B8D20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5 Levels of Agentic AI Systems - by Avi Chawla">
            <a:extLst>
              <a:ext uri="{FF2B5EF4-FFF2-40B4-BE49-F238E27FC236}">
                <a16:creationId xmlns:a16="http://schemas.microsoft.com/office/drawing/2014/main" id="{825672C0-F4E3-8A51-D1B7-C0974C5DB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57" y="92075"/>
            <a:ext cx="1186248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12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ABBA3-E8A1-AEAF-47D4-79AE6B2C5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Agentic 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36B23-8568-1A4E-6FE8-63D1B2512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Multi-step reasoning problems. </a:t>
            </a:r>
          </a:p>
          <a:p>
            <a:endParaRPr lang="en-IN" dirty="0"/>
          </a:p>
          <a:p>
            <a:r>
              <a:rPr lang="en-IN" dirty="0"/>
              <a:t>Tasks requiring external tools. </a:t>
            </a:r>
          </a:p>
          <a:p>
            <a:endParaRPr lang="en-IN" dirty="0"/>
          </a:p>
          <a:p>
            <a:r>
              <a:rPr lang="en-IN" dirty="0"/>
              <a:t>Long-running workflows. Dynamic decision-making. </a:t>
            </a:r>
          </a:p>
          <a:p>
            <a:endParaRPr lang="en-IN" dirty="0"/>
          </a:p>
          <a:p>
            <a:r>
              <a:rPr lang="en-IN" dirty="0"/>
              <a:t>Autonomous business automation.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776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887A9-81E3-4F03-41EA-296F9C4D0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Agentic AI vs Traditional LLM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F5849BC-72B0-6F63-123D-AFB4842B51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8555760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97383060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73359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Traditional LLM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Agentic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617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Single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Multi-step execution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787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planning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Goal-driven planning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612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Memory enabled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546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tool 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Tool orchestration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043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Static workflow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Adaptive workflow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268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9651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322</Words>
  <Application>Microsoft Macintosh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Agentic AI</vt:lpstr>
      <vt:lpstr>What is an AI Agent?</vt:lpstr>
      <vt:lpstr>Characteristics of an AI Agent</vt:lpstr>
      <vt:lpstr>Agentic AI</vt:lpstr>
      <vt:lpstr>PowerPoint Presentation</vt:lpstr>
      <vt:lpstr>Agentic Design Principles</vt:lpstr>
      <vt:lpstr>What is the ReAct Pattern?</vt:lpstr>
      <vt:lpstr>ReAct Workflow </vt:lpstr>
      <vt:lpstr>Why ReAct?</vt:lpstr>
      <vt:lpstr>PowerPoint Presentation</vt:lpstr>
      <vt:lpstr>PowerPoint Presentation</vt:lpstr>
      <vt:lpstr>When to Use Agentic AI</vt:lpstr>
      <vt:lpstr>Agentic AI vs Traditional LLM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Raste</dc:creator>
  <cp:lastModifiedBy>Varun Raste</cp:lastModifiedBy>
  <cp:revision>1</cp:revision>
  <dcterms:created xsi:type="dcterms:W3CDTF">2026-06-26T14:13:59Z</dcterms:created>
  <dcterms:modified xsi:type="dcterms:W3CDTF">2026-06-26T14:27:48Z</dcterms:modified>
</cp:coreProperties>
</file>